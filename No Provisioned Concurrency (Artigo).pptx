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 Black"/>
      <p:bold r:id="rId16"/>
      <p:boldItalic r:id="rId17"/>
    </p:embeddedFont>
    <p:embeddedFont>
      <p:font typeface="Raleway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Raleway Medium"/>
      <p:regular r:id="rId26"/>
      <p:bold r:id="rId27"/>
      <p:italic r:id="rId28"/>
      <p:boldItalic r:id="rId29"/>
    </p:embeddedFont>
    <p:embeddedFont>
      <p:font typeface="Roboto Light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FF98F1-29F1-4411-A6A0-F844FBBFF983}">
  <a:tblStyle styleId="{3EFF98F1-29F1-4411-A6A0-F844FBBFF9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Medium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alewayMedium-italic.fntdata"/><Relationship Id="rId27" Type="http://schemas.openxmlformats.org/officeDocument/2006/relationships/font" Target="fonts/Raleway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Light-bold.fntdata"/><Relationship Id="rId30" Type="http://schemas.openxmlformats.org/officeDocument/2006/relationships/font" Target="fonts/RobotoLight-regular.fntdata"/><Relationship Id="rId11" Type="http://schemas.openxmlformats.org/officeDocument/2006/relationships/slide" Target="slides/slide5.xml"/><Relationship Id="rId33" Type="http://schemas.openxmlformats.org/officeDocument/2006/relationships/font" Target="fonts/RobotoLight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Light-italic.fntdata"/><Relationship Id="rId13" Type="http://schemas.openxmlformats.org/officeDocument/2006/relationships/slide" Target="slides/slide7.xml"/><Relationship Id="rId35" Type="http://schemas.openxmlformats.org/officeDocument/2006/relationships/font" Target="fonts/RobotoMono-bold.fntdata"/><Relationship Id="rId12" Type="http://schemas.openxmlformats.org/officeDocument/2006/relationships/slide" Target="slides/slide6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9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Mono-italic.fntdata"/><Relationship Id="rId17" Type="http://schemas.openxmlformats.org/officeDocument/2006/relationships/font" Target="fonts/RobotoBlack-boldItalic.fntdata"/><Relationship Id="rId16" Type="http://schemas.openxmlformats.org/officeDocument/2006/relationships/font" Target="fonts/RobotoBlack-bold.fntdata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24789273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24789273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24789273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24789273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24789273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24789273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24789273b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24789273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24789273b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24789273b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24789273b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24789273b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24789273b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24789273b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24789273b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24789273b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563725" y="1218900"/>
            <a:ext cx="63030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Roboto Light"/>
              <a:buNone/>
              <a:defRPr sz="5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97525" y="2530375"/>
            <a:ext cx="63030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913575" y="4698625"/>
            <a:ext cx="3230550" cy="445650"/>
          </a:xfrm>
          <a:custGeom>
            <a:rect b="b" l="l" r="r" t="t"/>
            <a:pathLst>
              <a:path extrusionOk="0" h="17826" w="129222">
                <a:moveTo>
                  <a:pt x="129222" y="17795"/>
                </a:moveTo>
                <a:lnTo>
                  <a:pt x="0" y="17826"/>
                </a:lnTo>
                <a:lnTo>
                  <a:pt x="9278" y="0"/>
                </a:lnTo>
                <a:close/>
              </a:path>
            </a:pathLst>
          </a:custGeom>
          <a:solidFill>
            <a:srgbClr val="D7ECF8"/>
          </a:solidFill>
          <a:ln>
            <a:noFill/>
          </a:ln>
        </p:spPr>
      </p:sp>
      <p:sp>
        <p:nvSpPr>
          <p:cNvPr id="15" name="Google Shape;15;p2"/>
          <p:cNvSpPr/>
          <p:nvPr/>
        </p:nvSpPr>
        <p:spPr>
          <a:xfrm>
            <a:off x="-850" y="3540100"/>
            <a:ext cx="6184100" cy="1157675"/>
          </a:xfrm>
          <a:custGeom>
            <a:rect b="b" l="l" r="r" t="t"/>
            <a:pathLst>
              <a:path extrusionOk="0" h="46307" w="247364">
                <a:moveTo>
                  <a:pt x="34" y="9423"/>
                </a:moveTo>
                <a:lnTo>
                  <a:pt x="245855" y="46307"/>
                </a:lnTo>
                <a:lnTo>
                  <a:pt x="247364" y="43457"/>
                </a:lnTo>
                <a:lnTo>
                  <a:pt x="0" y="0"/>
                </a:lnTo>
                <a:close/>
              </a:path>
            </a:pathLst>
          </a:custGeom>
          <a:solidFill>
            <a:srgbClr val="81C2EA"/>
          </a:solidFill>
          <a:ln>
            <a:noFill/>
          </a:ln>
        </p:spPr>
      </p:sp>
      <p:sp>
        <p:nvSpPr>
          <p:cNvPr id="16" name="Google Shape;16;p2"/>
          <p:cNvSpPr txBox="1"/>
          <p:nvPr/>
        </p:nvSpPr>
        <p:spPr>
          <a:xfrm>
            <a:off x="302550" y="251800"/>
            <a:ext cx="70227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>
                <a:latin typeface="Roboto Black"/>
                <a:ea typeface="Roboto Black"/>
                <a:cs typeface="Roboto Black"/>
                <a:sym typeface="Roboto Black"/>
              </a:rPr>
              <a:t>INSTITUTO DE INFORMÁTICA</a:t>
            </a:r>
            <a:endParaRPr b="0" sz="1000"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000"/>
              <a:t>Universidade Federal de Goiás</a:t>
            </a:r>
            <a:endParaRPr b="0" sz="1000"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002" y="4300976"/>
            <a:ext cx="1675950" cy="56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9999" y="3911712"/>
            <a:ext cx="1546001" cy="7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ion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rgbClr val="005CA1"/>
                </a:solidFill>
              </a:defRPr>
            </a:lvl1pPr>
            <a:lvl2pPr lvl="1">
              <a:buNone/>
              <a:defRPr b="1">
                <a:solidFill>
                  <a:srgbClr val="005CA1"/>
                </a:solidFill>
              </a:defRPr>
            </a:lvl2pPr>
            <a:lvl3pPr lvl="2">
              <a:buNone/>
              <a:defRPr b="1">
                <a:solidFill>
                  <a:srgbClr val="005CA1"/>
                </a:solidFill>
              </a:defRPr>
            </a:lvl3pPr>
            <a:lvl4pPr lvl="3">
              <a:buNone/>
              <a:defRPr b="1">
                <a:solidFill>
                  <a:srgbClr val="005CA1"/>
                </a:solidFill>
              </a:defRPr>
            </a:lvl4pPr>
            <a:lvl5pPr lvl="4">
              <a:buNone/>
              <a:defRPr b="1">
                <a:solidFill>
                  <a:srgbClr val="005CA1"/>
                </a:solidFill>
              </a:defRPr>
            </a:lvl5pPr>
            <a:lvl6pPr lvl="5">
              <a:buNone/>
              <a:defRPr b="1">
                <a:solidFill>
                  <a:srgbClr val="005CA1"/>
                </a:solidFill>
              </a:defRPr>
            </a:lvl6pPr>
            <a:lvl7pPr lvl="6">
              <a:buNone/>
              <a:defRPr b="1">
                <a:solidFill>
                  <a:srgbClr val="005CA1"/>
                </a:solidFill>
              </a:defRPr>
            </a:lvl7pPr>
            <a:lvl8pPr lvl="7">
              <a:buNone/>
              <a:defRPr b="1">
                <a:solidFill>
                  <a:srgbClr val="005CA1"/>
                </a:solidFill>
              </a:defRPr>
            </a:lvl8pPr>
            <a:lvl9pPr lvl="8">
              <a:buNone/>
              <a:defRPr b="1">
                <a:solidFill>
                  <a:srgbClr val="005CA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-600" y="-1200"/>
            <a:ext cx="9157100" cy="5154875"/>
          </a:xfrm>
          <a:custGeom>
            <a:rect b="b" l="l" r="r" t="t"/>
            <a:pathLst>
              <a:path extrusionOk="0" h="206195" w="366284">
                <a:moveTo>
                  <a:pt x="0" y="205812"/>
                </a:moveTo>
                <a:lnTo>
                  <a:pt x="0" y="37553"/>
                </a:lnTo>
                <a:lnTo>
                  <a:pt x="365784" y="0"/>
                </a:lnTo>
                <a:lnTo>
                  <a:pt x="366284" y="2061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50" y="4500"/>
            <a:ext cx="914684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-650" y="31275"/>
            <a:ext cx="8944500" cy="915275"/>
          </a:xfrm>
          <a:custGeom>
            <a:rect b="b" l="l" r="r" t="t"/>
            <a:pathLst>
              <a:path extrusionOk="0" h="36611" w="357780">
                <a:moveTo>
                  <a:pt x="2" y="36611"/>
                </a:moveTo>
                <a:lnTo>
                  <a:pt x="0" y="29328"/>
                </a:lnTo>
                <a:lnTo>
                  <a:pt x="346522" y="500"/>
                </a:lnTo>
                <a:lnTo>
                  <a:pt x="3577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Google Shape;24;p3"/>
          <p:cNvSpPr/>
          <p:nvPr/>
        </p:nvSpPr>
        <p:spPr>
          <a:xfrm rot="10800000">
            <a:off x="8142000" y="-25"/>
            <a:ext cx="1002000" cy="881400"/>
          </a:xfrm>
          <a:prstGeom prst="rtTriangle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 rot="10800000">
            <a:off x="8141988" y="-99"/>
            <a:ext cx="1002000" cy="734100"/>
          </a:xfrm>
          <a:prstGeom prst="rtTriangle">
            <a:avLst/>
          </a:prstGeom>
          <a:solidFill>
            <a:srgbClr val="81C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00" y="134912"/>
            <a:ext cx="471450" cy="46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/>
          <p:nvPr>
            <p:ph type="title"/>
          </p:nvPr>
        </p:nvSpPr>
        <p:spPr>
          <a:xfrm>
            <a:off x="1157075" y="1450825"/>
            <a:ext cx="5979300" cy="23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Georgia"/>
              <a:buNone/>
              <a:defRPr b="0" i="1" sz="3000"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Font typeface="Raleway Medium"/>
              <a:buNone/>
              <a:defRPr i="1" sz="3000"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1565854" y="4042972"/>
            <a:ext cx="6460500" cy="59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" name="Google Shape;29;p3"/>
          <p:cNvSpPr txBox="1"/>
          <p:nvPr/>
        </p:nvSpPr>
        <p:spPr>
          <a:xfrm>
            <a:off x="7310850" y="421150"/>
            <a:ext cx="1218600" cy="11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0">
                <a:solidFill>
                  <a:schemeClr val="dk2"/>
                </a:solidFill>
              </a:rPr>
              <a:t>”</a:t>
            </a:r>
            <a:endParaRPr sz="20000">
              <a:solidFill>
                <a:schemeClr val="dk2"/>
              </a:solidFill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374750" y="3992875"/>
            <a:ext cx="575400" cy="501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right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-600" y="-600"/>
            <a:ext cx="9145200" cy="5144700"/>
          </a:xfrm>
          <a:custGeom>
            <a:rect b="b" l="l" r="r" t="t"/>
            <a:pathLst>
              <a:path extrusionOk="0" h="205788" w="365808">
                <a:moveTo>
                  <a:pt x="24" y="0"/>
                </a:moveTo>
                <a:lnTo>
                  <a:pt x="306348" y="24"/>
                </a:lnTo>
                <a:lnTo>
                  <a:pt x="365808" y="205764"/>
                </a:lnTo>
                <a:lnTo>
                  <a:pt x="0" y="2057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00" y="0"/>
            <a:ext cx="91452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311700" y="1152475"/>
            <a:ext cx="69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" name="Google Shape;36;p4"/>
          <p:cNvSpPr/>
          <p:nvPr/>
        </p:nvSpPr>
        <p:spPr>
          <a:xfrm>
            <a:off x="7650950" y="0"/>
            <a:ext cx="1381725" cy="4706550"/>
          </a:xfrm>
          <a:custGeom>
            <a:rect b="b" l="l" r="r" t="t"/>
            <a:pathLst>
              <a:path extrusionOk="0" h="188262" w="55269">
                <a:moveTo>
                  <a:pt x="5953" y="0"/>
                </a:moveTo>
                <a:lnTo>
                  <a:pt x="55269" y="188262"/>
                </a:lnTo>
                <a:lnTo>
                  <a:pt x="54507" y="18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" name="Google Shape;37;p4"/>
          <p:cNvSpPr/>
          <p:nvPr/>
        </p:nvSpPr>
        <p:spPr>
          <a:xfrm flipH="1">
            <a:off x="8259600" y="4081536"/>
            <a:ext cx="884400" cy="1062000"/>
          </a:xfrm>
          <a:prstGeom prst="rtTriangle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 flipH="1">
            <a:off x="8259589" y="4259122"/>
            <a:ext cx="884400" cy="884400"/>
          </a:xfrm>
          <a:prstGeom prst="rtTriangle">
            <a:avLst/>
          </a:prstGeom>
          <a:solidFill>
            <a:srgbClr val="81C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>
                <a:solidFill>
                  <a:srgbClr val="005CA1"/>
                </a:solidFill>
              </a:defRPr>
            </a:lvl1pPr>
            <a:lvl2pPr lvl="1">
              <a:buNone/>
              <a:defRPr b="1">
                <a:solidFill>
                  <a:srgbClr val="005CA1"/>
                </a:solidFill>
              </a:defRPr>
            </a:lvl2pPr>
            <a:lvl3pPr lvl="2">
              <a:buNone/>
              <a:defRPr b="1">
                <a:solidFill>
                  <a:srgbClr val="005CA1"/>
                </a:solidFill>
              </a:defRPr>
            </a:lvl3pPr>
            <a:lvl4pPr lvl="3">
              <a:buNone/>
              <a:defRPr b="1">
                <a:solidFill>
                  <a:srgbClr val="005CA1"/>
                </a:solidFill>
              </a:defRPr>
            </a:lvl4pPr>
            <a:lvl5pPr lvl="4">
              <a:buNone/>
              <a:defRPr b="1">
                <a:solidFill>
                  <a:srgbClr val="005CA1"/>
                </a:solidFill>
              </a:defRPr>
            </a:lvl5pPr>
            <a:lvl6pPr lvl="5">
              <a:buNone/>
              <a:defRPr b="1">
                <a:solidFill>
                  <a:srgbClr val="005CA1"/>
                </a:solidFill>
              </a:defRPr>
            </a:lvl6pPr>
            <a:lvl7pPr lvl="6">
              <a:buNone/>
              <a:defRPr b="1">
                <a:solidFill>
                  <a:srgbClr val="005CA1"/>
                </a:solidFill>
              </a:defRPr>
            </a:lvl7pPr>
            <a:lvl8pPr lvl="7">
              <a:buNone/>
              <a:defRPr b="1">
                <a:solidFill>
                  <a:srgbClr val="005CA1"/>
                </a:solidFill>
              </a:defRPr>
            </a:lvl8pPr>
            <a:lvl9pPr lvl="8">
              <a:buNone/>
              <a:defRPr b="1">
                <a:solidFill>
                  <a:srgbClr val="005CA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0" name="Google Shape;4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9500" y="234345"/>
            <a:ext cx="618975" cy="60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-800" y="-9075"/>
            <a:ext cx="9157300" cy="5154875"/>
          </a:xfrm>
          <a:custGeom>
            <a:rect b="b" l="l" r="r" t="t"/>
            <a:pathLst>
              <a:path extrusionOk="0" h="206195" w="366292">
                <a:moveTo>
                  <a:pt x="8" y="383"/>
                </a:moveTo>
                <a:lnTo>
                  <a:pt x="0" y="172858"/>
                </a:lnTo>
                <a:lnTo>
                  <a:pt x="365792" y="206195"/>
                </a:lnTo>
                <a:lnTo>
                  <a:pt x="366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43" name="Google Shape;43;p5"/>
          <p:cNvPicPr preferRelativeResize="0"/>
          <p:nvPr/>
        </p:nvPicPr>
        <p:blipFill rotWithShape="1">
          <a:blip r:embed="rId2">
            <a:alphaModFix amt="46000"/>
          </a:blip>
          <a:srcRect b="0" l="0" r="0" t="1234"/>
          <a:stretch/>
        </p:blipFill>
        <p:spPr>
          <a:xfrm flipH="1" rot="10800000">
            <a:off x="-650" y="57871"/>
            <a:ext cx="9146849" cy="508562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624850" y="1447025"/>
            <a:ext cx="3611100" cy="24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2" type="body"/>
          </p:nvPr>
        </p:nvSpPr>
        <p:spPr>
          <a:xfrm>
            <a:off x="4832400" y="1447075"/>
            <a:ext cx="3686700" cy="24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Roboto"/>
              <a:buChar char="○"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Roboto"/>
              <a:buChar char="■"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7" name="Google Shape;47;p5"/>
          <p:cNvSpPr/>
          <p:nvPr/>
        </p:nvSpPr>
        <p:spPr>
          <a:xfrm>
            <a:off x="-600" y="4269800"/>
            <a:ext cx="8944450" cy="845050"/>
          </a:xfrm>
          <a:custGeom>
            <a:rect b="b" l="l" r="r" t="t"/>
            <a:pathLst>
              <a:path extrusionOk="0" h="33802" w="357778">
                <a:moveTo>
                  <a:pt x="24" y="0"/>
                </a:moveTo>
                <a:lnTo>
                  <a:pt x="0" y="5182"/>
                </a:lnTo>
                <a:lnTo>
                  <a:pt x="346520" y="33302"/>
                </a:lnTo>
                <a:lnTo>
                  <a:pt x="357778" y="33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8" name="Google Shape;48;p5"/>
          <p:cNvSpPr/>
          <p:nvPr/>
        </p:nvSpPr>
        <p:spPr>
          <a:xfrm flipH="1">
            <a:off x="8162397" y="4367375"/>
            <a:ext cx="981600" cy="776400"/>
          </a:xfrm>
          <a:prstGeom prst="rtTriangle">
            <a:avLst/>
          </a:prstGeom>
          <a:solidFill>
            <a:srgbClr val="005C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 flipH="1">
            <a:off x="8162400" y="4497174"/>
            <a:ext cx="981600" cy="646500"/>
          </a:xfrm>
          <a:prstGeom prst="rtTriangle">
            <a:avLst/>
          </a:prstGeom>
          <a:solidFill>
            <a:srgbClr val="81C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005CA1"/>
                </a:solidFill>
              </a:defRPr>
            </a:lvl1pPr>
            <a:lvl2pPr lvl="1" rtl="0">
              <a:buNone/>
              <a:defRPr b="1">
                <a:solidFill>
                  <a:srgbClr val="005CA1"/>
                </a:solidFill>
              </a:defRPr>
            </a:lvl2pPr>
            <a:lvl3pPr lvl="2" rtl="0">
              <a:buNone/>
              <a:defRPr b="1">
                <a:solidFill>
                  <a:srgbClr val="005CA1"/>
                </a:solidFill>
              </a:defRPr>
            </a:lvl3pPr>
            <a:lvl4pPr lvl="3" rtl="0">
              <a:buNone/>
              <a:defRPr b="1">
                <a:solidFill>
                  <a:srgbClr val="005CA1"/>
                </a:solidFill>
              </a:defRPr>
            </a:lvl4pPr>
            <a:lvl5pPr lvl="4" rtl="0">
              <a:buNone/>
              <a:defRPr b="1">
                <a:solidFill>
                  <a:srgbClr val="005CA1"/>
                </a:solidFill>
              </a:defRPr>
            </a:lvl5pPr>
            <a:lvl6pPr lvl="5" rtl="0">
              <a:buNone/>
              <a:defRPr b="1">
                <a:solidFill>
                  <a:srgbClr val="005CA1"/>
                </a:solidFill>
              </a:defRPr>
            </a:lvl6pPr>
            <a:lvl7pPr lvl="6" rtl="0">
              <a:buNone/>
              <a:defRPr b="1">
                <a:solidFill>
                  <a:srgbClr val="005CA1"/>
                </a:solidFill>
              </a:defRPr>
            </a:lvl7pPr>
            <a:lvl8pPr lvl="7" rtl="0">
              <a:buNone/>
              <a:defRPr b="1">
                <a:solidFill>
                  <a:srgbClr val="005CA1"/>
                </a:solidFill>
              </a:defRPr>
            </a:lvl8pPr>
            <a:lvl9pPr lvl="8" rtl="0">
              <a:buNone/>
              <a:defRPr b="1">
                <a:solidFill>
                  <a:srgbClr val="005CA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1" name="Google Shape;5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00" y="4589033"/>
            <a:ext cx="430300" cy="4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3817050" y="450150"/>
            <a:ext cx="4783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3502975" y="1582375"/>
            <a:ext cx="98100" cy="18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2049" r="72682" t="0"/>
          <a:stretch/>
        </p:blipFill>
        <p:spPr>
          <a:xfrm>
            <a:off x="0" y="0"/>
            <a:ext cx="23086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(right)">
  <p:cSld name="SECTION_TITLE_AND_DESCRIPTI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>
            <a:off x="2743200" y="-125"/>
            <a:ext cx="6400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 txBox="1"/>
          <p:nvPr>
            <p:ph type="title"/>
          </p:nvPr>
        </p:nvSpPr>
        <p:spPr>
          <a:xfrm>
            <a:off x="265500" y="462700"/>
            <a:ext cx="2189100" cy="22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1" type="subTitle"/>
          </p:nvPr>
        </p:nvSpPr>
        <p:spPr>
          <a:xfrm>
            <a:off x="265500" y="2803075"/>
            <a:ext cx="2189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Font typeface="Roboto"/>
              <a:buNone/>
              <a:defRPr sz="21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2" type="body"/>
          </p:nvPr>
        </p:nvSpPr>
        <p:spPr>
          <a:xfrm>
            <a:off x="3105500" y="724075"/>
            <a:ext cx="56709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5CA1"/>
                </a:solidFill>
              </a:defRPr>
            </a:lvl1pPr>
            <a:lvl2pPr lvl="1">
              <a:buNone/>
              <a:defRPr>
                <a:solidFill>
                  <a:srgbClr val="005CA1"/>
                </a:solidFill>
              </a:defRPr>
            </a:lvl2pPr>
            <a:lvl3pPr lvl="2">
              <a:buNone/>
              <a:defRPr>
                <a:solidFill>
                  <a:srgbClr val="005CA1"/>
                </a:solidFill>
              </a:defRPr>
            </a:lvl3pPr>
            <a:lvl4pPr lvl="3">
              <a:buNone/>
              <a:defRPr>
                <a:solidFill>
                  <a:srgbClr val="005CA1"/>
                </a:solidFill>
              </a:defRPr>
            </a:lvl4pPr>
            <a:lvl5pPr lvl="4">
              <a:buNone/>
              <a:defRPr>
                <a:solidFill>
                  <a:srgbClr val="005CA1"/>
                </a:solidFill>
              </a:defRPr>
            </a:lvl5pPr>
            <a:lvl6pPr lvl="5">
              <a:buNone/>
              <a:defRPr>
                <a:solidFill>
                  <a:srgbClr val="005CA1"/>
                </a:solidFill>
              </a:defRPr>
            </a:lvl6pPr>
            <a:lvl7pPr lvl="6">
              <a:buNone/>
              <a:defRPr>
                <a:solidFill>
                  <a:srgbClr val="005CA1"/>
                </a:solidFill>
              </a:defRPr>
            </a:lvl7pPr>
            <a:lvl8pPr lvl="7">
              <a:buNone/>
              <a:defRPr>
                <a:solidFill>
                  <a:srgbClr val="005CA1"/>
                </a:solidFill>
              </a:defRPr>
            </a:lvl8pPr>
            <a:lvl9pPr lvl="8">
              <a:buNone/>
              <a:defRPr>
                <a:solidFill>
                  <a:srgbClr val="005CA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6" name="Google Shape;66;p8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1898999" y="-125"/>
            <a:ext cx="18163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(left)">
  <p:cSld name="SECTION_TITLE_AND_DESCRIPTION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0" y="-125"/>
            <a:ext cx="6400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6669800" y="1233175"/>
            <a:ext cx="22134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6669925" y="2803075"/>
            <a:ext cx="22134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100"/>
              <a:buNone/>
              <a:defRPr sz="2100">
                <a:solidFill>
                  <a:srgbClr val="EFEFE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367500" y="724075"/>
            <a:ext cx="55533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3" name="Google Shape;73;p9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5422360" y="-125"/>
            <a:ext cx="18163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032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7" name="Google Shape;77;p10"/>
          <p:cNvPicPr preferRelativeResize="0"/>
          <p:nvPr/>
        </p:nvPicPr>
        <p:blipFill rotWithShape="1">
          <a:blip r:embed="rId2">
            <a:alphaModFix/>
          </a:blip>
          <a:srcRect b="36317" l="2049" r="72682" t="39130"/>
          <a:stretch/>
        </p:blipFill>
        <p:spPr>
          <a:xfrm rot="5400000">
            <a:off x="565625" y="522899"/>
            <a:ext cx="2308649" cy="126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Roboto"/>
              <a:buChar char="■"/>
              <a:def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329565" y="483441"/>
            <a:ext cx="5737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i="0" sz="2400" u="none" cap="none" strike="noStrike">
                <a:solidFill>
                  <a:schemeClr val="lt1"/>
                </a:solidFill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>
            <a:off x="439737" y="1286541"/>
            <a:ext cx="8264400" cy="3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None/>
              <a:defRPr i="0" sz="2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rtl="0" algn="l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rtl="0" algn="l"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None/>
              <a:defRPr i="0" sz="1800" u="none" cap="none" strike="noStrike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522716" y="4846456"/>
            <a:ext cx="2496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522716" y="4846456"/>
            <a:ext cx="2496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rtl="0" algn="l">
              <a:lnSpc>
                <a:spcPct val="117500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05C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"/>
              <a:buNone/>
              <a:defRPr b="1" sz="28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Roboto Black"/>
              <a:buNone/>
              <a:defRPr sz="2800">
                <a:solidFill>
                  <a:srgbClr val="3F3F3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  <a:defRPr sz="1800">
                <a:solidFill>
                  <a:srgbClr val="3F3F3F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>
                <a:solidFill>
                  <a:srgbClr val="3F3F3F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>
                <a:solidFill>
                  <a:srgbClr val="3F3F3F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>
                <a:solidFill>
                  <a:srgbClr val="3F3F3F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>
                <a:solidFill>
                  <a:srgbClr val="3F3F3F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■"/>
              <a:defRPr>
                <a:solidFill>
                  <a:srgbClr val="3F3F3F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●"/>
              <a:defRPr>
                <a:solidFill>
                  <a:srgbClr val="3F3F3F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Char char="○"/>
              <a:defRPr>
                <a:solidFill>
                  <a:srgbClr val="3F3F3F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F3F3F"/>
              </a:buClr>
              <a:buSzPts val="1400"/>
              <a:buChar char="■"/>
              <a:defRPr>
                <a:solidFill>
                  <a:srgbClr val="3F3F3F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FFFFF"/>
                </a:solidFill>
              </a:defRPr>
            </a:lvl1pPr>
            <a:lvl2pPr lvl="1" rtl="0" algn="r">
              <a:buNone/>
              <a:defRPr sz="1000">
                <a:solidFill>
                  <a:srgbClr val="FFFFFF"/>
                </a:solidFill>
              </a:defRPr>
            </a:lvl2pPr>
            <a:lvl3pPr lvl="2" rtl="0" algn="r">
              <a:buNone/>
              <a:defRPr sz="1000">
                <a:solidFill>
                  <a:srgbClr val="FFFFFF"/>
                </a:solidFill>
              </a:defRPr>
            </a:lvl3pPr>
            <a:lvl4pPr lvl="3" rtl="0" algn="r">
              <a:buNone/>
              <a:defRPr sz="1000">
                <a:solidFill>
                  <a:srgbClr val="FFFFFF"/>
                </a:solidFill>
              </a:defRPr>
            </a:lvl4pPr>
            <a:lvl5pPr lvl="4" rtl="0" algn="r">
              <a:buNone/>
              <a:defRPr sz="1000">
                <a:solidFill>
                  <a:srgbClr val="FFFFFF"/>
                </a:solidFill>
              </a:defRPr>
            </a:lvl5pPr>
            <a:lvl6pPr lvl="5" rtl="0" algn="r">
              <a:buNone/>
              <a:defRPr sz="1000">
                <a:solidFill>
                  <a:srgbClr val="FFFFFF"/>
                </a:solidFill>
              </a:defRPr>
            </a:lvl6pPr>
            <a:lvl7pPr lvl="6" rtl="0" algn="r">
              <a:buNone/>
              <a:defRPr sz="1000">
                <a:solidFill>
                  <a:srgbClr val="FFFFFF"/>
                </a:solidFill>
              </a:defRPr>
            </a:lvl7pPr>
            <a:lvl8pPr lvl="7" rtl="0" algn="r">
              <a:buNone/>
              <a:defRPr sz="1000">
                <a:solidFill>
                  <a:srgbClr val="FFFFFF"/>
                </a:solidFill>
              </a:defRPr>
            </a:lvl8pPr>
            <a:lvl9pPr lvl="8" rtl="0" algn="r">
              <a:buNone/>
              <a:defRPr sz="10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563725" y="1218900"/>
            <a:ext cx="63030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No Provisioned Concurrency: Fast RDMA-codesigned Remote Fork for Serverless Computing</a:t>
            </a:r>
            <a:endParaRPr sz="2500"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497525" y="2530375"/>
            <a:ext cx="63030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Autores: Xingda Wei, Fangming Lu, Tianxia Wang,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Publicação: arXiv:2203.10225v3 [cs.OS]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 rot="523815">
            <a:off x="22043" y="3568207"/>
            <a:ext cx="4026147" cy="3393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rPr>
              <a:t>Aluno: Artur Rocha Lapot (15011640)</a:t>
            </a:r>
            <a:endParaRPr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Roteiro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11700" y="1152475"/>
            <a:ext cx="69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Contexto: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Dilema da Computação Serverless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Problema: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Cold Start vs. Custo de Recursos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Soluções Atuais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Suas Limitações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Proposta: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MITOSIS - Fork Remoto com RDMA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Funciona?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Arquitetura e Detalhes Técnicos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Avaliação Experimental</a:t>
            </a: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Resultados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Contexto: O Dilema da Computação Serverless</a:t>
            </a:r>
            <a:endParaRPr sz="2500"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152475"/>
            <a:ext cx="4711200" cy="38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Promessa: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Pague apenas pelo tempo de execução, com escalabilidade "infinita" e automática.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Problema do "Cold Start"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 um novo contêiner para uma função é lento (&gt;100 ms).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latência pode ser maior que o tempo de execução da própria função.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Solução do "Warm Start"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Manter contêineres "quentes" (em cache) para reuso é rápido (&lt;1 ms).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 Elevado: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Exige provisionar e pagar por muitos recursos ociosos, especialmente para lidar com picos de carga imprevisíveis.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900" y="1549625"/>
            <a:ext cx="3816300" cy="2905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Soluções Atuais e Suas Limitações</a:t>
            </a:r>
            <a:endParaRPr/>
          </a:p>
        </p:txBody>
      </p:sp>
      <p:graphicFrame>
        <p:nvGraphicFramePr>
          <p:cNvPr id="113" name="Google Shape;113;p17"/>
          <p:cNvGraphicFramePr/>
          <p:nvPr/>
        </p:nvGraphicFramePr>
        <p:xfrm>
          <a:off x="311700" y="124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{3EFF98F1-29F1-4411-A6A0-F844FBBFF983}</a:tableStyleId>
              </a:tblPr>
              <a:tblGrid>
                <a:gridCol w="1740675"/>
                <a:gridCol w="1740675"/>
                <a:gridCol w="1740675"/>
                <a:gridCol w="1740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Técnica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005C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Startup Remoto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005C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Recursos Provisionados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005C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Principal Limitação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005CA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Caching (Warm)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N/A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O(n) - por função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Muito caro e consome muita memória.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Fork (Local)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N/A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O(n) - por máquina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Não funciona em ambiente distribuído.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Checkpoint/Restore (C/R)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Lento (~24ms)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O(1) - global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Muito lento devido a I/O e sobrecarga de software.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311700" y="3940950"/>
            <a:ext cx="6962700" cy="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 sz="1300"/>
              <a:t>Nenhuma solução </a:t>
            </a:r>
            <a:r>
              <a:rPr lang="pt-BR" sz="1300"/>
              <a:t>a</a:t>
            </a:r>
            <a:r>
              <a:rPr lang="pt-BR" sz="1300"/>
              <a:t>tual oferece simultaneamente: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pt-BR" sz="1300"/>
              <a:t>Startup remoto rápido.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pt-BR" sz="1300"/>
              <a:t>Provisionamento mínimo de recursos (O(1)).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Proposta: MITOSIS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11700" y="1152475"/>
            <a:ext cx="6962700" cy="38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Fork Remoto Rápido com Co-design de SO e RDMA</a:t>
            </a:r>
            <a:endParaRPr/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Conceito Central: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Estender a semântica do </a:t>
            </a:r>
            <a:r>
              <a:rPr lang="pt-BR" sz="1100">
                <a:solidFill>
                  <a:schemeClr val="lt2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rPr>
              <a:t>fork()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um ambiente distribuído. Criar um novo contêiner em uma máquina remota como se fosse um </a:t>
            </a:r>
            <a:r>
              <a:rPr lang="pt-BR" sz="1100">
                <a:solidFill>
                  <a:schemeClr val="lt2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rPr>
              <a:t>fork()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local.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Como?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Através de um co-design profundo entre o kernel do SO e o hardware de rede </a:t>
            </a: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RDMA (Remote Direct Memory Access)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Benefícios: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Startup Eficiente: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Inicia contêineres remotos com a velocidade de um fork local, exigindo apenas um contêiner "semente" para todo o cluster.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Transferência de Estado Transparente: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contêiner filho acessa a memória do pai diretamente (read-only), eliminando custos de serialização, cópias e armazenamento externo.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147975" y="50650"/>
            <a:ext cx="69627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/>
              <a:t>Como Funciona? C/R vs. MITOSIS</a:t>
            </a:r>
            <a:endParaRPr sz="2300"/>
          </a:p>
        </p:txBody>
      </p:sp>
      <p:graphicFrame>
        <p:nvGraphicFramePr>
          <p:cNvPr id="126" name="Google Shape;126;p19"/>
          <p:cNvGraphicFramePr/>
          <p:nvPr/>
        </p:nvGraphicFramePr>
        <p:xfrm>
          <a:off x="208350" y="6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{3EFF98F1-29F1-4411-A6A0-F844FBBFF983}</a:tableStyleId>
              </a:tblPr>
              <a:tblGrid>
                <a:gridCol w="3619500"/>
                <a:gridCol w="3619500"/>
              </a:tblGrid>
              <a:tr h="367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lt1"/>
                          </a:solidFill>
                        </a:rPr>
                        <a:t>Checkpoint/Restore (Abordagem Tradicional)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lt1"/>
                          </a:solidFill>
                        </a:rPr>
                        <a:t>MITOSIS (Nova Abordagem)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</a:tr>
              <a:tr h="52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1. Pai: Faz checkpoint de toda a sua memória para arquivos.</a:t>
                      </a:r>
                      <a:endParaRPr sz="1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1. Pai: Envia um descritor leve (~KB) com metadados para o filho.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52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2. Rede: Transfere esses arquivos (MBs/GBs).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2. Filho: Mapeia sua memória virtual para a memória física remota do pai.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52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3. Filho: Faz restore a partir dos arquivos.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3. Execução: Busca páginas de memória sob demanda via RDMA (one-sided).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52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Resultado: Lento, sobrecarga de software (DFS) e cópias de memória.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Resultado: Rápido, sem checkpoint de memória, sem cópias desnecessárias.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46900"/>
            <a:ext cx="7447350" cy="189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125050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e Desafios Técnicos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71225" y="751575"/>
            <a:ext cx="69627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Componentes Adicionados ao Kernel:</a:t>
            </a:r>
            <a:endParaRPr b="1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Fork Orchestrator: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Gerencia as chamadas </a:t>
            </a:r>
            <a:r>
              <a:rPr lang="pt-BR" sz="1000">
                <a:solidFill>
                  <a:schemeClr val="lt2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rPr>
              <a:t>fork_prepare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pt-BR" sz="1000">
                <a:solidFill>
                  <a:schemeClr val="lt2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rPr>
              <a:t>fork_resume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Daemon: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Gerencia conexões RDMA escaláveis (</a:t>
            </a: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DCT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Gerenciador de Memória Virtual: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Modificado para tratar </a:t>
            </a:r>
            <a:r>
              <a:rPr lang="pt-BR" sz="1000">
                <a:solidFill>
                  <a:schemeClr val="lt2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rPr>
              <a:t>page faults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remotas.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Desafios Técnicos Resolvidos:</a:t>
            </a:r>
            <a:endParaRPr b="1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Conexão RDMA Escalável: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Uso de </a:t>
            </a: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DCT (Dynamic Connected Transport)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evitar o alto custo de estabelecer conexões.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 de Acesso à Memória: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método de controle de permissão baseado na conexão (por VMA), sem o custo de registro de memória do RDMA.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Gerenciamento do Ciclo de Vida: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Delegado de forma inteligente para o coordenador da plataforma serverless.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225" y="3105250"/>
            <a:ext cx="6903175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e Resultados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0" y="1189575"/>
            <a:ext cx="4572000" cy="37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Latência de Startup: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MITOSIS inicia funções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 6 ms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Até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99% mais rápido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C/R 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97% mais rápido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o Cold Start.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Consumo de Memória: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MITOSIS usa apenas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6.5%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memória provisionada exigida por </a:t>
            </a:r>
            <a:r>
              <a:rPr lang="pt-BR" sz="1200">
                <a:solidFill>
                  <a:schemeClr val="lt2"/>
                </a:solidFill>
                <a:highlight>
                  <a:schemeClr val="dk2"/>
                </a:highlight>
                <a:latin typeface="Roboto Mono"/>
                <a:ea typeface="Roboto Mono"/>
                <a:cs typeface="Roboto Mono"/>
                <a:sym typeface="Roboto Mono"/>
              </a:rPr>
              <a:t>Caching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Transferência de Estado (Aplicação FINRA):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86% mais rápido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a abordagem padrão com Redis, eliminando a sobrecarga de serialização e rede.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Picos de Carga (Traces da Azure):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Reduz a latência de cauda (p99)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89%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550" y="1189575"/>
            <a:ext cx="4267200" cy="1887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550" y="3218200"/>
            <a:ext cx="4267200" cy="17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311700" y="445025"/>
            <a:ext cx="696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311700" y="1152475"/>
            <a:ext cx="6962700" cy="3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Problema: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Plataformas serverless enfrentam um trade-off crítico entre </a:t>
            </a: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latência de startup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 de recursos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Solução: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MITOSIS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uma nova primitiva de SO, resolve esse dilema com um </a:t>
            </a: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fork remoto rápido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Inovação Chave: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co-design entre o kernel do SO e o RDMA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acesso direto e sob demanda à memória remota, eliminando gargalos de software.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Impacto: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MITOSIS torna a computação serverless mais rápida e barata, viabilizando startups quase instantâneos com provisionamento mínimo de recursos.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